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3" r:id="rId4"/>
    <p:sldId id="262" r:id="rId5"/>
    <p:sldId id="258" r:id="rId6"/>
    <p:sldId id="259" r:id="rId7"/>
    <p:sldId id="264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6" d="100"/>
          <a:sy n="76" d="100"/>
        </p:scale>
        <p:origin x="21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940542-536C-7C0A-99AA-5CF6CCBB47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06C8A32-E6D5-ADBF-DB58-E67EB9F262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3B2F5AE-45E3-EB20-7829-231F7E36C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1C2D9-B304-4F9A-9C73-A6A1B44AE055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D538DB1-8AC9-EA95-0D47-83D664389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9A3C50-EAA9-C949-DC03-4654CA3EC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71FB0-C217-401E-B87B-0BF6BBB69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4358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1C784-B6B1-908D-808D-27EA19C75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50E8A8-BD29-05D1-7E9E-A73733205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D3E67C-32A4-9289-AA6B-8F335D8DB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1C2D9-B304-4F9A-9C73-A6A1B44AE055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0BA80D-6D99-5739-36A2-FC3CB2CA5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E4A37A-FC07-2B7F-8D6E-8DA3C1752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71FB0-C217-401E-B87B-0BF6BBB69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0674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4E7CAE-32D0-8AB7-89BD-5D0774E03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E9BB9EB-244F-5C78-BDAB-3E17BAC7A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67B8AE-B93F-F788-BC1C-2FD770A3C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1C2D9-B304-4F9A-9C73-A6A1B44AE055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0F7989-F45C-FBEB-6E45-725871153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5B08F9-DFBD-E9BC-6863-56DDF68C5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71FB0-C217-401E-B87B-0BF6BBB69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58844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4972B4-FEF4-F56F-984C-5D72B9DBF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95C2DD-CCEA-941A-7EE0-4D9A82A4EC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0D7630-A433-59A6-AB99-8BA4E8F6E9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B907A0A-3923-65B3-AA63-2C283CBCB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1C2D9-B304-4F9A-9C73-A6A1B44AE055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2EA7E35-45AF-52D2-3AA4-183FEA378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3D0A4D-1666-C95B-B6F3-353C9E731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71FB0-C217-401E-B87B-0BF6BBB69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252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6E5A4B-8CB9-DBD2-3A2C-0F9E62980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520585-4647-BC94-6949-8828492C10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A21A9D-6B4E-60E4-8597-918FDFD567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018A466-3E9D-275E-39C2-3C9773D1E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9F58A22-CF07-76BC-DA04-E80132768D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7FE7A29-CAE6-654B-4D39-94CBA246D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1C2D9-B304-4F9A-9C73-A6A1B44AE055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2814D63-343F-95CF-EAB8-711B8E5C0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2E81B5B-DB7F-369A-B1FE-B39701CB6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71FB0-C217-401E-B87B-0BF6BBB69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5849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1C888D-1D83-4ECA-87FD-65392FC96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46E469B-63E0-987F-9022-3C88C514D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1C2D9-B304-4F9A-9C73-A6A1B44AE055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2EC86B6-7F4F-86D8-030D-04F587042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3ADE22E-F505-A687-191D-460FD1A82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71FB0-C217-401E-B87B-0BF6BBB69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4623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1B35A6E-EEB7-C264-431E-C1CE21AB8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1C2D9-B304-4F9A-9C73-A6A1B44AE055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CC7E6E0-1DCA-242D-8EDB-883FDAFBE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C2481C-32B1-814F-4544-F242FD750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71FB0-C217-401E-B87B-0BF6BBB69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4969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B3AA72-106A-DC09-44B7-324CB5A314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F2D674-9B71-EE2E-979E-40F920A745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C0433F8-8BF4-A065-678E-3E7C4C5328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6C0B896-F130-D398-316B-D38B7473B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1C2D9-B304-4F9A-9C73-A6A1B44AE055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5BD55D1-5694-6380-E5D2-B3C2DF39F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5B124B3-872B-51FD-A8A9-305ECF53B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71FB0-C217-401E-B87B-0BF6BBB69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44908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280D9F-7A50-280B-8E7C-AFB079D4F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1557F84-F900-DCD2-A0A0-5C0CA958BA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699F36C-AC1A-5B7C-2A8E-749B44B84D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0B5D5A8-1A5A-DE86-B50B-2D95175E4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1C2D9-B304-4F9A-9C73-A6A1B44AE055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7359FB5-FC20-4E60-E77E-F1F6E7FC8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DC8B81A-954F-3823-8ECB-CDEA17E27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71FB0-C217-401E-B87B-0BF6BBB69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1200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2C5D1E-3239-8C8F-4156-E0B1A2E82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88BAF86-C35E-B24D-95EE-2029DDDCDD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0D7B16-763E-F1CE-A14C-E81B58C63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1C2D9-B304-4F9A-9C73-A6A1B44AE055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2D598B2-B04B-80B3-E1A1-F6E31635E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481A08-7211-26A0-8121-230AA0808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71FB0-C217-401E-B87B-0BF6BBB69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6945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A38BCAC-978E-E181-DA71-25A7C11C2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CE5D38E-C290-8681-BD81-8C54460E42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8C26A5-63C4-EB2F-E151-31B7CEB59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1C2D9-B304-4F9A-9C73-A6A1B44AE055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DAC412-817D-A8FB-C18B-00426FC2F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31B108-542B-9DF0-4C1F-A4AB5DC4B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D71FB0-C217-401E-B87B-0BF6BBB69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6338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40ADA9D-9B6D-D5CB-657D-F7DA0C008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DFD0EE-D8F4-4EA6-0A0D-CBD6AE7607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D66358-2B24-3D93-37CA-46CA3C7535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F1C2D9-B304-4F9A-9C73-A6A1B44AE055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9B4727-9A9A-BF7E-4471-9FB6EB32B9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72A5BE-D422-FFB5-F818-921B6BDF74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D71FB0-C217-401E-B87B-0BF6BBB69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9208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58185F3-9BC6-B230-9915-E85FC8E4A251}"/>
              </a:ext>
            </a:extLst>
          </p:cNvPr>
          <p:cNvCxnSpPr>
            <a:cxnSpLocks/>
          </p:cNvCxnSpPr>
          <p:nvPr/>
        </p:nvCxnSpPr>
        <p:spPr>
          <a:xfrm>
            <a:off x="283030" y="602904"/>
            <a:ext cx="1159412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8579CB5-E56C-3A19-DCC4-F1C4E50205F3}"/>
              </a:ext>
            </a:extLst>
          </p:cNvPr>
          <p:cNvSpPr txBox="1"/>
          <p:nvPr/>
        </p:nvSpPr>
        <p:spPr>
          <a:xfrm>
            <a:off x="11847007" y="6519446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bg2">
                    <a:lumMod val="75000"/>
                  </a:schemeClr>
                </a:solidFill>
              </a:rPr>
              <a:t>1</a:t>
            </a:r>
            <a:endParaRPr lang="ko-KR" altLang="en-US" sz="16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E6D303-67F1-1071-A934-5B056BAE40EC}"/>
              </a:ext>
            </a:extLst>
          </p:cNvPr>
          <p:cNvSpPr txBox="1"/>
          <p:nvPr/>
        </p:nvSpPr>
        <p:spPr>
          <a:xfrm>
            <a:off x="283030" y="224158"/>
            <a:ext cx="25490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2">
                    <a:lumMod val="75000"/>
                  </a:schemeClr>
                </a:solidFill>
              </a:rPr>
              <a:t>일반적인 </a:t>
            </a:r>
            <a:r>
              <a:rPr lang="en-US" altLang="ko-KR" sz="1600" dirty="0">
                <a:solidFill>
                  <a:schemeClr val="bg2">
                    <a:lumMod val="75000"/>
                  </a:schemeClr>
                </a:solidFill>
              </a:rPr>
              <a:t>LSTM </a:t>
            </a:r>
            <a:r>
              <a:rPr lang="ko-KR" altLang="en-US" sz="1600" dirty="0">
                <a:solidFill>
                  <a:schemeClr val="bg2">
                    <a:lumMod val="75000"/>
                  </a:schemeClr>
                </a:solidFill>
              </a:rPr>
              <a:t>모델 구조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DBB6221-5BC8-F7EE-72E6-4392D49016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56" y="796850"/>
            <a:ext cx="11594121" cy="2961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3BF61F2-9617-5004-4B0E-7FD927A1B06D}"/>
              </a:ext>
            </a:extLst>
          </p:cNvPr>
          <p:cNvSpPr txBox="1"/>
          <p:nvPr/>
        </p:nvSpPr>
        <p:spPr>
          <a:xfrm>
            <a:off x="545431" y="4154853"/>
            <a:ext cx="6655668" cy="211628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-LSTM </a:t>
            </a:r>
            <a:r>
              <a:rPr lang="ko-KR" altLang="en-US" dirty="0"/>
              <a:t>내부 구조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  input gate: </a:t>
            </a:r>
            <a:r>
              <a:rPr lang="ko-KR" altLang="en-US" dirty="0"/>
              <a:t>현재 입력과 이전 </a:t>
            </a:r>
            <a:r>
              <a:rPr lang="en-US" altLang="ko-KR" dirty="0"/>
              <a:t>h</a:t>
            </a:r>
            <a:r>
              <a:rPr lang="ko-KR" altLang="en-US" dirty="0"/>
              <a:t>를 보고 얼마나 반영할지 결정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  forget gate: </a:t>
            </a:r>
            <a:r>
              <a:rPr lang="ko-KR" altLang="en-US" dirty="0"/>
              <a:t>이전 셀 상태를 얼마나 유지할지 결정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  hidden gate: input gate</a:t>
            </a:r>
            <a:r>
              <a:rPr lang="ko-KR" altLang="en-US" dirty="0"/>
              <a:t>와</a:t>
            </a:r>
            <a:r>
              <a:rPr lang="en-US" altLang="ko-KR" dirty="0"/>
              <a:t> </a:t>
            </a:r>
            <a:r>
              <a:rPr lang="ko-KR" altLang="en-US" dirty="0"/>
              <a:t>곱해져서 실제 메모리에 반영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  output gate: </a:t>
            </a:r>
            <a:r>
              <a:rPr lang="ko-KR" altLang="en-US" dirty="0"/>
              <a:t>현재 셀 상태를 압축해서 최종 </a:t>
            </a:r>
            <a:r>
              <a:rPr lang="en-US" altLang="ko-KR" dirty="0"/>
              <a:t>h </a:t>
            </a:r>
            <a:r>
              <a:rPr lang="ko-KR" altLang="en-US" dirty="0"/>
              <a:t>생성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AE60D8-D8B7-29DC-1B08-019933916A2F}"/>
              </a:ext>
            </a:extLst>
          </p:cNvPr>
          <p:cNvSpPr txBox="1"/>
          <p:nvPr/>
        </p:nvSpPr>
        <p:spPr>
          <a:xfrm>
            <a:off x="8067040" y="4154853"/>
            <a:ext cx="3081293" cy="8697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Cell</a:t>
            </a:r>
            <a:r>
              <a:rPr lang="ko-KR" altLang="en-US" dirty="0"/>
              <a:t> </a:t>
            </a:r>
            <a:r>
              <a:rPr lang="en-US" altLang="ko-KR" dirty="0"/>
              <a:t>state</a:t>
            </a:r>
            <a:r>
              <a:rPr lang="ko-KR" altLang="en-US" dirty="0"/>
              <a:t> </a:t>
            </a:r>
            <a:r>
              <a:rPr lang="en-US" altLang="ko-KR" b="1" dirty="0"/>
              <a:t>C </a:t>
            </a:r>
            <a:r>
              <a:rPr lang="en-US" altLang="ko-KR" dirty="0"/>
              <a:t>: Long Term 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hidden state </a:t>
            </a:r>
            <a:r>
              <a:rPr lang="en-US" altLang="ko-KR" b="1" dirty="0"/>
              <a:t>h </a:t>
            </a:r>
            <a:r>
              <a:rPr lang="en-US" altLang="ko-KR" dirty="0"/>
              <a:t>: Short Term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2AA816E-3208-BE71-5257-85954307CF49}"/>
              </a:ext>
            </a:extLst>
          </p:cNvPr>
          <p:cNvCxnSpPr/>
          <p:nvPr/>
        </p:nvCxnSpPr>
        <p:spPr>
          <a:xfrm>
            <a:off x="7366000" y="4460240"/>
            <a:ext cx="5384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2649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2DBB3-220E-769B-FFE0-9292C91DA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E0B2BB6-EE9E-7C9A-9F91-623B18CF4CCA}"/>
              </a:ext>
            </a:extLst>
          </p:cNvPr>
          <p:cNvCxnSpPr>
            <a:cxnSpLocks/>
          </p:cNvCxnSpPr>
          <p:nvPr/>
        </p:nvCxnSpPr>
        <p:spPr>
          <a:xfrm>
            <a:off x="283030" y="602904"/>
            <a:ext cx="1159412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5D5DB58-3979-9B50-7F2F-7446342C05E7}"/>
              </a:ext>
            </a:extLst>
          </p:cNvPr>
          <p:cNvSpPr txBox="1"/>
          <p:nvPr/>
        </p:nvSpPr>
        <p:spPr>
          <a:xfrm>
            <a:off x="11847007" y="6519446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bg2">
                    <a:lumMod val="75000"/>
                  </a:schemeClr>
                </a:solidFill>
              </a:rPr>
              <a:t>2</a:t>
            </a:r>
            <a:endParaRPr lang="ko-KR" altLang="en-US" sz="1600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D6FA215-929D-0580-B209-80A58225E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49" y="1326300"/>
            <a:ext cx="3548306" cy="420539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F2D5E6A-BBDD-BC42-80D3-7A1CEC606FCB}"/>
              </a:ext>
            </a:extLst>
          </p:cNvPr>
          <p:cNvSpPr txBox="1"/>
          <p:nvPr/>
        </p:nvSpPr>
        <p:spPr>
          <a:xfrm>
            <a:off x="3831336" y="1005755"/>
            <a:ext cx="8016240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 input size=1 : 1000</a:t>
            </a:r>
            <a:r>
              <a:rPr lang="ko-KR" altLang="en-US" dirty="0"/>
              <a:t>행 전압신호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 hidden size=128 : </a:t>
            </a:r>
            <a:r>
              <a:rPr lang="ko-KR" altLang="en-US" dirty="0"/>
              <a:t>한 </a:t>
            </a:r>
            <a:r>
              <a:rPr lang="en-US" altLang="ko-KR" dirty="0"/>
              <a:t>timestep</a:t>
            </a:r>
            <a:r>
              <a:rPr lang="ko-KR" altLang="en-US" dirty="0"/>
              <a:t>마다 유지하는 </a:t>
            </a:r>
            <a:r>
              <a:rPr lang="en-US" altLang="ko-KR" dirty="0"/>
              <a:t>short term </a:t>
            </a:r>
            <a:r>
              <a:rPr lang="ko-KR" altLang="en-US" dirty="0"/>
              <a:t>메모리의 차원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 </a:t>
            </a:r>
            <a:r>
              <a:rPr lang="en-US" altLang="ko-KR" dirty="0" err="1"/>
              <a:t>num_layers</a:t>
            </a:r>
            <a:r>
              <a:rPr lang="en-US" altLang="ko-KR" dirty="0"/>
              <a:t>=2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다층구조 </a:t>
            </a:r>
            <a:r>
              <a:rPr lang="en-US" altLang="ko-KR" dirty="0"/>
              <a:t>LSTM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 dropout=0.2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0.2</a:t>
            </a:r>
            <a:r>
              <a:rPr lang="ko-KR" altLang="en-US" dirty="0"/>
              <a:t>확률로 </a:t>
            </a:r>
            <a:r>
              <a:rPr lang="en-US" altLang="ko-KR" dirty="0"/>
              <a:t>LSTM </a:t>
            </a:r>
            <a:r>
              <a:rPr lang="ko-KR" altLang="en-US" dirty="0"/>
              <a:t>층 사이 연결을 끊어 </a:t>
            </a:r>
            <a:r>
              <a:rPr lang="ko-KR" altLang="en-US" dirty="0" err="1"/>
              <a:t>과적합</a:t>
            </a:r>
            <a:r>
              <a:rPr lang="ko-KR" altLang="en-US" dirty="0"/>
              <a:t> 방지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BEBEA7DE-17B1-90FD-D3F4-E18A82F174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703"/>
          <a:stretch>
            <a:fillRect/>
          </a:stretch>
        </p:blipFill>
        <p:spPr bwMode="auto">
          <a:xfrm>
            <a:off x="4354244" y="3067510"/>
            <a:ext cx="6997720" cy="2537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CC03D25-9D56-85CD-2F39-242E1902C6E7}"/>
              </a:ext>
            </a:extLst>
          </p:cNvPr>
          <p:cNvSpPr txBox="1"/>
          <p:nvPr/>
        </p:nvSpPr>
        <p:spPr>
          <a:xfrm>
            <a:off x="283030" y="224158"/>
            <a:ext cx="35141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2">
                    <a:lumMod val="75000"/>
                  </a:schemeClr>
                </a:solidFill>
              </a:rPr>
              <a:t>실험에 적용한 </a:t>
            </a:r>
            <a:r>
              <a:rPr lang="en-US" altLang="ko-KR" sz="1600" dirty="0">
                <a:solidFill>
                  <a:schemeClr val="bg2">
                    <a:lumMod val="75000"/>
                  </a:schemeClr>
                </a:solidFill>
              </a:rPr>
              <a:t>LSTM </a:t>
            </a:r>
            <a:r>
              <a:rPr lang="ko-KR" altLang="en-US" sz="1600" dirty="0">
                <a:solidFill>
                  <a:schemeClr val="bg2">
                    <a:lumMod val="75000"/>
                  </a:schemeClr>
                </a:solidFill>
              </a:rPr>
              <a:t>모델 파라미터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6B18C3-7701-CFB5-68DD-BA49E4C32731}"/>
              </a:ext>
            </a:extLst>
          </p:cNvPr>
          <p:cNvSpPr txBox="1"/>
          <p:nvPr/>
        </p:nvSpPr>
        <p:spPr>
          <a:xfrm>
            <a:off x="8720220" y="5698356"/>
            <a:ext cx="26317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ko-KR" sz="1400" dirty="0"/>
              <a:t>stacked</a:t>
            </a:r>
            <a:r>
              <a:rPr lang="ko-KR" altLang="en-US" sz="1400" dirty="0"/>
              <a:t> </a:t>
            </a:r>
            <a:r>
              <a:rPr lang="en-US" altLang="ko-KR" sz="1400" dirty="0"/>
              <a:t>LSTM </a:t>
            </a:r>
            <a:r>
              <a:rPr lang="ko-KR" altLang="en-US" sz="1400" dirty="0"/>
              <a:t>모델 개략도 </a:t>
            </a:r>
          </a:p>
        </p:txBody>
      </p:sp>
    </p:spTree>
    <p:extLst>
      <p:ext uri="{BB962C8B-B14F-4D97-AF65-F5344CB8AC3E}">
        <p14:creationId xmlns:p14="http://schemas.microsoft.com/office/powerpoint/2010/main" val="3045058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17D24-CC95-511D-2DEA-326B4D67D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49F4D55-04FF-2172-9B40-57E4A7B5DA83}"/>
              </a:ext>
            </a:extLst>
          </p:cNvPr>
          <p:cNvCxnSpPr>
            <a:cxnSpLocks/>
          </p:cNvCxnSpPr>
          <p:nvPr/>
        </p:nvCxnSpPr>
        <p:spPr>
          <a:xfrm>
            <a:off x="283030" y="602904"/>
            <a:ext cx="1159412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83C9C32-7F7E-513F-A71E-C7CCB793EE98}"/>
              </a:ext>
            </a:extLst>
          </p:cNvPr>
          <p:cNvSpPr txBox="1"/>
          <p:nvPr/>
        </p:nvSpPr>
        <p:spPr>
          <a:xfrm>
            <a:off x="11847007" y="6519446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bg2">
                    <a:lumMod val="75000"/>
                  </a:schemeClr>
                </a:solidFill>
              </a:rPr>
              <a:t>3</a:t>
            </a:r>
            <a:endParaRPr lang="ko-KR" altLang="en-US" sz="1600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27672F1-EA6D-EF8C-4958-FE97EBAC0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042" y="2291241"/>
            <a:ext cx="5257961" cy="23915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3F6E049-6A4A-844E-9833-D895516B648D}"/>
              </a:ext>
            </a:extLst>
          </p:cNvPr>
          <p:cNvSpPr txBox="1"/>
          <p:nvPr/>
        </p:nvSpPr>
        <p:spPr>
          <a:xfrm>
            <a:off x="6022824" y="2291241"/>
            <a:ext cx="5580958" cy="8697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/>
              <a:t>out</a:t>
            </a:r>
            <a:r>
              <a:rPr lang="ko-KR" altLang="en-US" dirty="0"/>
              <a:t>, _ = </a:t>
            </a:r>
            <a:r>
              <a:rPr lang="ko-KR" altLang="en-US" dirty="0" err="1"/>
              <a:t>self.rnn</a:t>
            </a:r>
            <a:r>
              <a:rPr lang="ko-KR" altLang="en-US" dirty="0"/>
              <a:t>(</a:t>
            </a:r>
            <a:r>
              <a:rPr lang="ko-KR" altLang="en-US" dirty="0" err="1"/>
              <a:t>x</a:t>
            </a:r>
            <a:r>
              <a:rPr lang="ko-KR" altLang="en-US" dirty="0"/>
              <a:t>) </a:t>
            </a:r>
            <a:r>
              <a:rPr lang="en-US" altLang="ko-KR" dirty="0"/>
              <a:t>: </a:t>
            </a:r>
            <a:r>
              <a:rPr lang="ko-KR" altLang="en-US" dirty="0"/>
              <a:t>순서대로 </a:t>
            </a:r>
            <a:r>
              <a:rPr lang="en-US" altLang="ko-KR" dirty="0"/>
              <a:t>timestep </a:t>
            </a:r>
            <a:r>
              <a:rPr lang="ko-KR" altLang="en-US" dirty="0"/>
              <a:t>하나씩 계산</a:t>
            </a:r>
          </a:p>
          <a:p>
            <a:pPr>
              <a:lnSpc>
                <a:spcPct val="150000"/>
              </a:lnSpc>
            </a:pPr>
            <a:r>
              <a:rPr lang="ko-KR" altLang="en-US" dirty="0" err="1"/>
              <a:t>h_last</a:t>
            </a:r>
            <a:r>
              <a:rPr lang="ko-KR" altLang="en-US" dirty="0"/>
              <a:t> = </a:t>
            </a:r>
            <a:r>
              <a:rPr lang="ko-KR" altLang="en-US" dirty="0" err="1"/>
              <a:t>out</a:t>
            </a:r>
            <a:r>
              <a:rPr lang="ko-KR" altLang="en-US" dirty="0"/>
              <a:t>[:, -1, :] </a:t>
            </a:r>
            <a:r>
              <a:rPr lang="en-US" altLang="ko-KR" dirty="0"/>
              <a:t>: </a:t>
            </a:r>
            <a:r>
              <a:rPr lang="ko-KR" altLang="en-US" dirty="0"/>
              <a:t> 마지막 시점의 </a:t>
            </a:r>
            <a:r>
              <a:rPr lang="en-US" altLang="ko-KR" dirty="0"/>
              <a:t>hidden state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E8F09B-A312-5DF1-82E8-DD35910FE42D}"/>
              </a:ext>
            </a:extLst>
          </p:cNvPr>
          <p:cNvSpPr txBox="1"/>
          <p:nvPr/>
        </p:nvSpPr>
        <p:spPr>
          <a:xfrm>
            <a:off x="283030" y="224158"/>
            <a:ext cx="35141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2">
                    <a:lumMod val="75000"/>
                  </a:schemeClr>
                </a:solidFill>
              </a:rPr>
              <a:t>실험에 적용한 </a:t>
            </a:r>
            <a:r>
              <a:rPr lang="en-US" altLang="ko-KR" sz="1600" dirty="0">
                <a:solidFill>
                  <a:schemeClr val="bg2">
                    <a:lumMod val="75000"/>
                  </a:schemeClr>
                </a:solidFill>
              </a:rPr>
              <a:t>LSTM </a:t>
            </a:r>
            <a:r>
              <a:rPr lang="ko-KR" altLang="en-US" sz="1600" dirty="0">
                <a:solidFill>
                  <a:schemeClr val="bg2">
                    <a:lumMod val="75000"/>
                  </a:schemeClr>
                </a:solidFill>
              </a:rPr>
              <a:t>모델 파라미터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DE04969-F517-7B9F-2289-7705521108B2}"/>
              </a:ext>
            </a:extLst>
          </p:cNvPr>
          <p:cNvSpPr/>
          <p:nvPr/>
        </p:nvSpPr>
        <p:spPr>
          <a:xfrm>
            <a:off x="928047" y="3030842"/>
            <a:ext cx="2869087" cy="7632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CF731A-060D-2630-B448-ED03E2119E5C}"/>
              </a:ext>
            </a:extLst>
          </p:cNvPr>
          <p:cNvSpPr txBox="1"/>
          <p:nvPr/>
        </p:nvSpPr>
        <p:spPr>
          <a:xfrm>
            <a:off x="6063768" y="3224288"/>
            <a:ext cx="5783239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ko-KR" altLang="en-US" dirty="0">
                <a:solidFill>
                  <a:srgbClr val="FF0000"/>
                </a:solidFill>
              </a:rPr>
              <a:t>⇒</a:t>
            </a:r>
            <a:r>
              <a:rPr lang="en-US" altLang="ko-KR" dirty="0">
                <a:solidFill>
                  <a:srgbClr val="FF0000"/>
                </a:solidFill>
              </a:rPr>
              <a:t>1000</a:t>
            </a:r>
            <a:r>
              <a:rPr lang="ko-KR" altLang="en-US" dirty="0">
                <a:solidFill>
                  <a:srgbClr val="FF0000"/>
                </a:solidFill>
              </a:rPr>
              <a:t>번째 시점까지 순서대로 계산하면서 누적해온 최종결과 </a:t>
            </a:r>
            <a:r>
              <a:rPr lang="en-US" altLang="ko-KR" dirty="0">
                <a:solidFill>
                  <a:srgbClr val="FF0000"/>
                </a:solidFill>
              </a:rPr>
              <a:t>(long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term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memory</a:t>
            </a:r>
            <a:r>
              <a:rPr lang="ko-KR" altLang="en-US" dirty="0">
                <a:solidFill>
                  <a:srgbClr val="FF0000"/>
                </a:solidFill>
              </a:rPr>
              <a:t>가 반영된 </a:t>
            </a:r>
            <a:r>
              <a:rPr lang="en-US" altLang="ko-KR" dirty="0">
                <a:solidFill>
                  <a:srgbClr val="FF0000"/>
                </a:solidFill>
              </a:rPr>
              <a:t>short term)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11042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4C7BC-108C-A1D6-641D-07F6340C2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0BFBF6F-4294-4466-60B4-D755F771E174}"/>
              </a:ext>
            </a:extLst>
          </p:cNvPr>
          <p:cNvCxnSpPr>
            <a:cxnSpLocks/>
          </p:cNvCxnSpPr>
          <p:nvPr/>
        </p:nvCxnSpPr>
        <p:spPr>
          <a:xfrm>
            <a:off x="283030" y="602904"/>
            <a:ext cx="1159412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DA2EA5A-DA67-E52C-9982-750B7BD6B168}"/>
              </a:ext>
            </a:extLst>
          </p:cNvPr>
          <p:cNvSpPr txBox="1"/>
          <p:nvPr/>
        </p:nvSpPr>
        <p:spPr>
          <a:xfrm>
            <a:off x="11847007" y="6519446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bg2">
                    <a:lumMod val="75000"/>
                  </a:schemeClr>
                </a:solidFill>
              </a:rPr>
              <a:t>4</a:t>
            </a:r>
            <a:endParaRPr lang="ko-KR" altLang="en-US" sz="16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991F53-CE27-7BD0-4142-F970F38B2FAF}"/>
              </a:ext>
            </a:extLst>
          </p:cNvPr>
          <p:cNvSpPr txBox="1"/>
          <p:nvPr/>
        </p:nvSpPr>
        <p:spPr>
          <a:xfrm>
            <a:off x="283030" y="224158"/>
            <a:ext cx="35141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bg2">
                    <a:lumMod val="75000"/>
                  </a:schemeClr>
                </a:solidFill>
              </a:rPr>
              <a:t> LSTM</a:t>
            </a:r>
            <a:r>
              <a:rPr lang="ko-KR" altLang="en-US" sz="1600" dirty="0">
                <a:solidFill>
                  <a:schemeClr val="bg2">
                    <a:lumMod val="75000"/>
                  </a:schemeClr>
                </a:solidFill>
              </a:rPr>
              <a:t>과 일반 </a:t>
            </a:r>
            <a:r>
              <a:rPr lang="ko-KR" altLang="en-US" sz="1600" dirty="0" err="1">
                <a:solidFill>
                  <a:schemeClr val="bg2">
                    <a:lumMod val="75000"/>
                  </a:schemeClr>
                </a:solidFill>
              </a:rPr>
              <a:t>다변수</a:t>
            </a:r>
            <a:r>
              <a:rPr lang="ko-KR" altLang="en-US" sz="1600" dirty="0">
                <a:solidFill>
                  <a:schemeClr val="bg2">
                    <a:lumMod val="75000"/>
                  </a:schemeClr>
                </a:solidFill>
              </a:rPr>
              <a:t> 모델과의 차이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F8355E-285D-17E4-33FC-EBE2F4EFA2C4}"/>
              </a:ext>
            </a:extLst>
          </p:cNvPr>
          <p:cNvSpPr txBox="1"/>
          <p:nvPr/>
        </p:nvSpPr>
        <p:spPr>
          <a:xfrm>
            <a:off x="6011850" y="1665722"/>
            <a:ext cx="5766917" cy="37782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일반 </a:t>
            </a:r>
            <a:r>
              <a:rPr lang="ko-KR" altLang="en-US" dirty="0" err="1"/>
              <a:t>다변수</a:t>
            </a:r>
            <a:r>
              <a:rPr lang="ko-KR" altLang="en-US" dirty="0"/>
              <a:t> 모델에서는 과거 기억과 순서 없이 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변수를 특징으로 학습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LSTM </a:t>
            </a:r>
            <a:r>
              <a:rPr lang="ko-KR" altLang="en-US" dirty="0"/>
              <a:t>모델은 </a:t>
            </a:r>
            <a:r>
              <a:rPr lang="en-US" altLang="ko-KR" dirty="0"/>
              <a:t>1000timestep</a:t>
            </a:r>
            <a:r>
              <a:rPr lang="ko-KR" altLang="en-US" dirty="0"/>
              <a:t>을 지난 </a:t>
            </a:r>
            <a:r>
              <a:rPr lang="en-US" altLang="ko-KR" dirty="0"/>
              <a:t>long term memory</a:t>
            </a:r>
            <a:r>
              <a:rPr lang="ko-KR" altLang="en-US" dirty="0"/>
              <a:t>가</a:t>
            </a:r>
            <a:r>
              <a:rPr lang="en-US" altLang="ko-KR" dirty="0"/>
              <a:t> </a:t>
            </a:r>
            <a:r>
              <a:rPr lang="ko-KR" altLang="en-US" dirty="0"/>
              <a:t>반영된 </a:t>
            </a:r>
            <a:r>
              <a:rPr lang="en-US" altLang="ko-KR" dirty="0"/>
              <a:t>short term state</a:t>
            </a:r>
            <a:r>
              <a:rPr lang="ko-KR" altLang="en-US" dirty="0"/>
              <a:t>에</a:t>
            </a:r>
            <a:r>
              <a:rPr lang="en-US" altLang="ko-KR" dirty="0"/>
              <a:t> </a:t>
            </a:r>
            <a:r>
              <a:rPr lang="ko-KR" altLang="en-US" dirty="0"/>
              <a:t>보조적인 정적 변수인 </a:t>
            </a:r>
            <a:r>
              <a:rPr lang="en-US" altLang="ko-KR" dirty="0"/>
              <a:t>depth</a:t>
            </a:r>
            <a:r>
              <a:rPr lang="ko-KR" altLang="en-US" dirty="0"/>
              <a:t>를 결합하는 </a:t>
            </a:r>
            <a:r>
              <a:rPr lang="en-US" altLang="ko-KR" dirty="0"/>
              <a:t>late fusion </a:t>
            </a:r>
            <a:r>
              <a:rPr lang="ko-KR" altLang="en-US" dirty="0"/>
              <a:t>구조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rgbClr val="FF0000"/>
                </a:solidFill>
              </a:rPr>
              <a:t>⇒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ko-KR" altLang="en-US" dirty="0">
                <a:solidFill>
                  <a:srgbClr val="FF0000"/>
                </a:solidFill>
              </a:rPr>
              <a:t>단순 </a:t>
            </a:r>
            <a:r>
              <a:rPr lang="en-US" altLang="ko-KR" dirty="0">
                <a:solidFill>
                  <a:srgbClr val="FF0000"/>
                </a:solidFill>
              </a:rPr>
              <a:t>2</a:t>
            </a:r>
            <a:r>
              <a:rPr lang="ko-KR" altLang="en-US" dirty="0">
                <a:solidFill>
                  <a:srgbClr val="FF0000"/>
                </a:solidFill>
              </a:rPr>
              <a:t>변수 모델에서는 전압신호와 </a:t>
            </a:r>
            <a:r>
              <a:rPr lang="ko-KR" altLang="en-US" dirty="0" err="1">
                <a:solidFill>
                  <a:srgbClr val="FF0000"/>
                </a:solidFill>
              </a:rPr>
              <a:t>가공깊이의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endParaRPr lang="en-US" altLang="ko-KR" dirty="0">
              <a:solidFill>
                <a:srgbClr val="FF0000"/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rgbClr val="FF0000"/>
                </a:solidFill>
              </a:rPr>
              <a:t>조합으로 임의로 </a:t>
            </a:r>
            <a:r>
              <a:rPr lang="en-US" altLang="ko-KR" dirty="0">
                <a:solidFill>
                  <a:srgbClr val="FF0000"/>
                </a:solidFill>
              </a:rPr>
              <a:t>command</a:t>
            </a:r>
            <a:r>
              <a:rPr lang="ko-KR" altLang="en-US" dirty="0">
                <a:solidFill>
                  <a:srgbClr val="FF0000"/>
                </a:solidFill>
              </a:rPr>
              <a:t>를 판단할 위험 커짐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6E98BDF-EDD4-F075-C835-A7BF2346E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10" y="2291241"/>
            <a:ext cx="5257961" cy="2391524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EBA2739-F3E1-551F-7B10-EAE9FF4CA4A7}"/>
              </a:ext>
            </a:extLst>
          </p:cNvPr>
          <p:cNvSpPr/>
          <p:nvPr/>
        </p:nvSpPr>
        <p:spPr>
          <a:xfrm>
            <a:off x="805215" y="3822415"/>
            <a:ext cx="4844956" cy="7632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576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FC1F5-02A5-5F66-0B3D-88471189E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53769D2-25D3-9272-07C9-D0AB22C1F851}"/>
              </a:ext>
            </a:extLst>
          </p:cNvPr>
          <p:cNvCxnSpPr>
            <a:cxnSpLocks/>
          </p:cNvCxnSpPr>
          <p:nvPr/>
        </p:nvCxnSpPr>
        <p:spPr>
          <a:xfrm>
            <a:off x="283030" y="602904"/>
            <a:ext cx="1159412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1E8E5DF-33D6-8ECE-C268-2F740FC77526}"/>
              </a:ext>
            </a:extLst>
          </p:cNvPr>
          <p:cNvSpPr txBox="1"/>
          <p:nvPr/>
        </p:nvSpPr>
        <p:spPr>
          <a:xfrm>
            <a:off x="11847007" y="6519446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bg2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745E5F-A263-86E2-54FA-7201B9011FB7}"/>
              </a:ext>
            </a:extLst>
          </p:cNvPr>
          <p:cNvSpPr txBox="1"/>
          <p:nvPr/>
        </p:nvSpPr>
        <p:spPr>
          <a:xfrm>
            <a:off x="283030" y="224158"/>
            <a:ext cx="31406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2">
                    <a:lumMod val="75000"/>
                  </a:schemeClr>
                </a:solidFill>
              </a:rPr>
              <a:t>모델 파라미터 및 데이터셋 정리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9E5C427-72AD-1172-7AE6-35BC0FADC8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885"/>
          <a:stretch>
            <a:fillRect/>
          </a:stretch>
        </p:blipFill>
        <p:spPr>
          <a:xfrm>
            <a:off x="650375" y="1639337"/>
            <a:ext cx="2955822" cy="357932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A3E5C57-6F55-8116-8E95-7C800046A5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6197" y="1639336"/>
            <a:ext cx="1815154" cy="357931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17DF6B6-0E9E-23CE-8EEE-01EDF1CB2115}"/>
              </a:ext>
            </a:extLst>
          </p:cNvPr>
          <p:cNvSpPr txBox="1"/>
          <p:nvPr/>
        </p:nvSpPr>
        <p:spPr>
          <a:xfrm>
            <a:off x="5711356" y="2163108"/>
            <a:ext cx="6040115" cy="253178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1000</a:t>
            </a:r>
            <a:r>
              <a:rPr lang="ko-KR" altLang="en-US" dirty="0"/>
              <a:t>행 전압신호와 파일명에서 라벨과 </a:t>
            </a:r>
            <a:r>
              <a:rPr lang="ko-KR" altLang="en-US" dirty="0" err="1"/>
              <a:t>가공깊이</a:t>
            </a:r>
            <a:r>
              <a:rPr lang="ko-KR" altLang="en-US" dirty="0"/>
              <a:t> 추출해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PMAC</a:t>
            </a:r>
            <a:r>
              <a:rPr lang="ko-KR" altLang="en-US" dirty="0"/>
              <a:t>에서 수집한 원본 데이터 바로 이용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 label class</a:t>
            </a:r>
            <a:r>
              <a:rPr lang="ko-KR" altLang="en-US" dirty="0"/>
              <a:t>는 </a:t>
            </a:r>
            <a:r>
              <a:rPr lang="en-US" altLang="ko-KR" dirty="0"/>
              <a:t>0/1/2(Hold/Go/Back) 3</a:t>
            </a:r>
            <a:r>
              <a:rPr lang="ko-KR" altLang="en-US" dirty="0"/>
              <a:t>개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 csv</a:t>
            </a:r>
            <a:r>
              <a:rPr lang="ko-KR" altLang="en-US" dirty="0" err="1"/>
              <a:t>끼리는</a:t>
            </a:r>
            <a:r>
              <a:rPr lang="ko-KR" altLang="en-US" dirty="0"/>
              <a:t> 독립적인 학습 샘플 처리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 </a:t>
            </a:r>
            <a:r>
              <a:rPr lang="ko-KR" altLang="en-US" dirty="0" err="1"/>
              <a:t>가공깊이는</a:t>
            </a:r>
            <a:r>
              <a:rPr lang="ko-KR" altLang="en-US" dirty="0"/>
              <a:t> </a:t>
            </a:r>
            <a:r>
              <a:rPr lang="en-US" altLang="ko-KR" dirty="0"/>
              <a:t>0-1500 </a:t>
            </a:r>
            <a:r>
              <a:rPr lang="ko-KR" altLang="en-US" dirty="0"/>
              <a:t>고정 스케일링 정규화 후 </a:t>
            </a:r>
            <a:r>
              <a:rPr lang="en-US" altLang="ko-KR" dirty="0"/>
              <a:t>late fusion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67889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D5F03-0F62-B0BE-E70F-A9723C750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E25C88A-FCAE-35CF-1EF3-2AA650C98BB7}"/>
              </a:ext>
            </a:extLst>
          </p:cNvPr>
          <p:cNvCxnSpPr>
            <a:cxnSpLocks/>
          </p:cNvCxnSpPr>
          <p:nvPr/>
        </p:nvCxnSpPr>
        <p:spPr>
          <a:xfrm>
            <a:off x="283030" y="602904"/>
            <a:ext cx="1159412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401095C-3593-F908-A311-E8E1F9035E89}"/>
              </a:ext>
            </a:extLst>
          </p:cNvPr>
          <p:cNvSpPr txBox="1"/>
          <p:nvPr/>
        </p:nvSpPr>
        <p:spPr>
          <a:xfrm>
            <a:off x="11847007" y="6519446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bg2">
                    <a:lumMod val="75000"/>
                  </a:schemeClr>
                </a:solidFill>
              </a:rPr>
              <a:t>6</a:t>
            </a:r>
            <a:endParaRPr lang="ko-KR" altLang="en-US" sz="16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C14EE9-13C4-34F0-636E-90AB17DE7B48}"/>
              </a:ext>
            </a:extLst>
          </p:cNvPr>
          <p:cNvSpPr txBox="1"/>
          <p:nvPr/>
        </p:nvSpPr>
        <p:spPr>
          <a:xfrm>
            <a:off x="283030" y="224158"/>
            <a:ext cx="31406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2">
                    <a:lumMod val="75000"/>
                  </a:schemeClr>
                </a:solidFill>
              </a:rPr>
              <a:t>모델 파라미터 및 데이터셋 정리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D289E6-00B1-74A0-EB86-BC2F36701F1C}"/>
              </a:ext>
            </a:extLst>
          </p:cNvPr>
          <p:cNvSpPr txBox="1"/>
          <p:nvPr/>
        </p:nvSpPr>
        <p:spPr>
          <a:xfrm>
            <a:off x="1433354" y="955677"/>
            <a:ext cx="8439875" cy="544027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-</a:t>
            </a:r>
            <a:r>
              <a:rPr lang="ko-KR" altLang="en-US" dirty="0"/>
              <a:t>모델 입력 설정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 window size=1000 : </a:t>
            </a:r>
            <a:r>
              <a:rPr lang="ko-KR" altLang="en-US" dirty="0"/>
              <a:t>시퀀스 길이 </a:t>
            </a:r>
            <a:r>
              <a:rPr lang="en-US" altLang="ko-KR" dirty="0"/>
              <a:t>: 1000timestep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 input size=1 : </a:t>
            </a:r>
            <a:r>
              <a:rPr lang="ko-KR" altLang="en-US" dirty="0"/>
              <a:t>전압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 batch size=32 : </a:t>
            </a:r>
            <a:r>
              <a:rPr lang="ko-KR" altLang="en-US" dirty="0"/>
              <a:t>한 번에 처리하는 시퀀스 수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-LSTM </a:t>
            </a:r>
            <a:r>
              <a:rPr lang="ko-KR" altLang="en-US" dirty="0"/>
              <a:t>구조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 hidden size=128 : 1000timestep</a:t>
            </a:r>
            <a:r>
              <a:rPr lang="ko-KR" altLang="en-US" dirty="0"/>
              <a:t>을 </a:t>
            </a:r>
            <a:r>
              <a:rPr lang="en-US" altLang="ko-KR" dirty="0"/>
              <a:t>128</a:t>
            </a:r>
            <a:r>
              <a:rPr lang="ko-KR" altLang="en-US" dirty="0"/>
              <a:t>차원 벡터 하나로 처리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 </a:t>
            </a:r>
            <a:r>
              <a:rPr lang="en-US" altLang="ko-KR" dirty="0" err="1"/>
              <a:t>num_layers</a:t>
            </a:r>
            <a:r>
              <a:rPr lang="en-US" altLang="ko-KR" dirty="0"/>
              <a:t>=2 : stacked LSTM</a:t>
            </a:r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-</a:t>
            </a:r>
            <a:r>
              <a:rPr lang="ko-KR" altLang="en-US" dirty="0"/>
              <a:t>학습 설정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 </a:t>
            </a:r>
            <a:r>
              <a:rPr lang="en-US" altLang="ko-KR" dirty="0"/>
              <a:t>Learning</a:t>
            </a:r>
            <a:r>
              <a:rPr lang="ko-KR" altLang="en-US" dirty="0"/>
              <a:t> </a:t>
            </a:r>
            <a:r>
              <a:rPr lang="en-US" altLang="ko-KR" dirty="0"/>
              <a:t>rate:</a:t>
            </a:r>
            <a:r>
              <a:rPr lang="ko-KR" altLang="en-US" dirty="0"/>
              <a:t> </a:t>
            </a:r>
            <a:r>
              <a:rPr lang="en-US" altLang="ko-KR" dirty="0"/>
              <a:t>1e-3 → 5e-4 → 1e-4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 Epoch: 30 × 3 = 90epochs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 </a:t>
            </a:r>
            <a:r>
              <a:rPr lang="en-US" altLang="ko-KR" dirty="0" err="1"/>
              <a:t>CrossEntropyLoss</a:t>
            </a:r>
            <a:r>
              <a:rPr lang="en-US" altLang="ko-KR" dirty="0"/>
              <a:t>: batch</a:t>
            </a:r>
            <a:r>
              <a:rPr lang="ko-KR" altLang="en-US" dirty="0"/>
              <a:t>마다 계산</a:t>
            </a:r>
            <a:r>
              <a:rPr lang="en-US" altLang="ko-KR" dirty="0"/>
              <a:t>. Epoch </a:t>
            </a:r>
            <a:r>
              <a:rPr lang="ko-KR" altLang="en-US" dirty="0" err="1"/>
              <a:t>종료시</a:t>
            </a:r>
            <a:r>
              <a:rPr lang="ko-KR" altLang="en-US" dirty="0"/>
              <a:t> 평균 </a:t>
            </a:r>
            <a:r>
              <a:rPr lang="en-US" altLang="ko-KR" dirty="0"/>
              <a:t>loss</a:t>
            </a:r>
            <a:r>
              <a:rPr lang="ko-KR" altLang="en-US" dirty="0"/>
              <a:t>로 학습 안정성 확인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773186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D6411-5F00-732A-5764-C307A514A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달력 무료 템플릿. 저작권 걱정 없는 디자인 | Canva(캔바)">
            <a:extLst>
              <a:ext uri="{FF2B5EF4-FFF2-40B4-BE49-F238E27FC236}">
                <a16:creationId xmlns:a16="http://schemas.microsoft.com/office/drawing/2014/main" id="{AE1805F4-0A02-1E36-F999-5C76ACB2F0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7242" y="360486"/>
            <a:ext cx="6497516" cy="6497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A8FA9F4-2B2D-781A-2470-22429561A72D}"/>
              </a:ext>
            </a:extLst>
          </p:cNvPr>
          <p:cNvCxnSpPr>
            <a:cxnSpLocks/>
          </p:cNvCxnSpPr>
          <p:nvPr/>
        </p:nvCxnSpPr>
        <p:spPr>
          <a:xfrm>
            <a:off x="283030" y="602904"/>
            <a:ext cx="1159412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AA6C7BB-074C-7412-8CDC-EF42A73BBE48}"/>
              </a:ext>
            </a:extLst>
          </p:cNvPr>
          <p:cNvSpPr txBox="1"/>
          <p:nvPr/>
        </p:nvSpPr>
        <p:spPr>
          <a:xfrm>
            <a:off x="11847007" y="6519446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bg2">
                    <a:lumMod val="75000"/>
                  </a:schemeClr>
                </a:solidFill>
              </a:rPr>
              <a:t>7</a:t>
            </a:r>
            <a:endParaRPr lang="ko-KR" altLang="en-US" sz="16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E22A2B-45F5-1778-D120-1DBECB646A83}"/>
              </a:ext>
            </a:extLst>
          </p:cNvPr>
          <p:cNvSpPr txBox="1"/>
          <p:nvPr/>
        </p:nvSpPr>
        <p:spPr>
          <a:xfrm>
            <a:off x="283030" y="224158"/>
            <a:ext cx="1560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2">
                    <a:lumMod val="75000"/>
                  </a:schemeClr>
                </a:solidFill>
              </a:rPr>
              <a:t>연구 진행 계획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9614312-725F-D113-1774-789864010175}"/>
              </a:ext>
            </a:extLst>
          </p:cNvPr>
          <p:cNvSpPr/>
          <p:nvPr/>
        </p:nvSpPr>
        <p:spPr>
          <a:xfrm>
            <a:off x="4923692" y="3529480"/>
            <a:ext cx="3868617" cy="702000"/>
          </a:xfrm>
          <a:prstGeom prst="rect">
            <a:avLst/>
          </a:prstGeom>
          <a:solidFill>
            <a:srgbClr val="FFC000">
              <a:alpha val="29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AE053C-D747-D9EF-B858-C1B7BBFC92CF}"/>
              </a:ext>
            </a:extLst>
          </p:cNvPr>
          <p:cNvSpPr txBox="1"/>
          <p:nvPr/>
        </p:nvSpPr>
        <p:spPr>
          <a:xfrm>
            <a:off x="4949856" y="3950254"/>
            <a:ext cx="32848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직경</a:t>
            </a:r>
            <a:r>
              <a:rPr lang="en-US" altLang="ko-KR" sz="1200" dirty="0"/>
              <a:t>80µm/500pF</a:t>
            </a:r>
            <a:r>
              <a:rPr lang="ko-KR" altLang="en-US" sz="1200" dirty="0"/>
              <a:t> 학습데이터셋 완성 및 논문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37456AF-865B-863D-8371-CFF1B26CE2E0}"/>
              </a:ext>
            </a:extLst>
          </p:cNvPr>
          <p:cNvSpPr/>
          <p:nvPr/>
        </p:nvSpPr>
        <p:spPr>
          <a:xfrm>
            <a:off x="3458202" y="4289429"/>
            <a:ext cx="1368000" cy="702000"/>
          </a:xfrm>
          <a:prstGeom prst="rect">
            <a:avLst/>
          </a:prstGeom>
          <a:solidFill>
            <a:srgbClr val="FFC000">
              <a:alpha val="29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BA6E09-80FA-B177-B339-76DF0C3B1B3F}"/>
              </a:ext>
            </a:extLst>
          </p:cNvPr>
          <p:cNvSpPr txBox="1"/>
          <p:nvPr/>
        </p:nvSpPr>
        <p:spPr>
          <a:xfrm>
            <a:off x="3458202" y="4696618"/>
            <a:ext cx="13248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아웃라인 작성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7E05109-CF30-F368-18D3-336F7D67BDB3}"/>
              </a:ext>
            </a:extLst>
          </p:cNvPr>
          <p:cNvSpPr/>
          <p:nvPr/>
        </p:nvSpPr>
        <p:spPr>
          <a:xfrm>
            <a:off x="4925369" y="4264683"/>
            <a:ext cx="3868617" cy="702000"/>
          </a:xfrm>
          <a:prstGeom prst="rect">
            <a:avLst/>
          </a:prstGeom>
          <a:solidFill>
            <a:srgbClr val="92D050">
              <a:alpha val="29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9094C1-788E-0EBC-1B96-14354ECFE260}"/>
              </a:ext>
            </a:extLst>
          </p:cNvPr>
          <p:cNvSpPr txBox="1"/>
          <p:nvPr/>
        </p:nvSpPr>
        <p:spPr>
          <a:xfrm>
            <a:off x="4951533" y="4685457"/>
            <a:ext cx="34147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논문 세부내용 작성</a:t>
            </a:r>
            <a:r>
              <a:rPr lang="en-US" altLang="ko-KR" sz="1200" dirty="0"/>
              <a:t>(</a:t>
            </a:r>
            <a:r>
              <a:rPr lang="ko-KR" altLang="en-US" sz="1200" dirty="0"/>
              <a:t>수치</a:t>
            </a:r>
            <a:r>
              <a:rPr lang="en-US" altLang="ko-KR" sz="1200" dirty="0"/>
              <a:t>/</a:t>
            </a:r>
            <a:r>
              <a:rPr lang="ko-KR" altLang="en-US" sz="1200" dirty="0"/>
              <a:t>그림 제외</a:t>
            </a:r>
            <a:r>
              <a:rPr lang="en-US" altLang="ko-KR" sz="1200" dirty="0"/>
              <a:t>), </a:t>
            </a:r>
            <a:r>
              <a:rPr lang="ko-KR" altLang="en-US" sz="1200" dirty="0"/>
              <a:t>모델 탑재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67897B8-F120-3C7C-B67F-C22032F0EF1B}"/>
              </a:ext>
            </a:extLst>
          </p:cNvPr>
          <p:cNvSpPr/>
          <p:nvPr/>
        </p:nvSpPr>
        <p:spPr>
          <a:xfrm>
            <a:off x="3469927" y="5024632"/>
            <a:ext cx="1368000" cy="702000"/>
          </a:xfrm>
          <a:prstGeom prst="rect">
            <a:avLst/>
          </a:prstGeom>
          <a:solidFill>
            <a:srgbClr val="92D050">
              <a:alpha val="29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38A922-B2C7-3FB5-1F88-BB7CC3A19E66}"/>
              </a:ext>
            </a:extLst>
          </p:cNvPr>
          <p:cNvSpPr txBox="1"/>
          <p:nvPr/>
        </p:nvSpPr>
        <p:spPr>
          <a:xfrm>
            <a:off x="3459878" y="5431821"/>
            <a:ext cx="178536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실험 및 성능 분석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3C51D71-9BF9-0897-51B9-6B9C0B382CF3}"/>
              </a:ext>
            </a:extLst>
          </p:cNvPr>
          <p:cNvSpPr/>
          <p:nvPr/>
        </p:nvSpPr>
        <p:spPr>
          <a:xfrm>
            <a:off x="4937095" y="4999884"/>
            <a:ext cx="3868617" cy="702000"/>
          </a:xfrm>
          <a:prstGeom prst="rect">
            <a:avLst/>
          </a:prstGeom>
          <a:solidFill>
            <a:srgbClr val="00B0F0">
              <a:alpha val="29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28856A5-6DD0-8980-BAFB-E43E34FCBD89}"/>
              </a:ext>
            </a:extLst>
          </p:cNvPr>
          <p:cNvSpPr txBox="1"/>
          <p:nvPr/>
        </p:nvSpPr>
        <p:spPr>
          <a:xfrm>
            <a:off x="4963259" y="5420658"/>
            <a:ext cx="12170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논문 초안 완성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01F8F76-61DD-C86E-11AD-FF0D7E6A3758}"/>
              </a:ext>
            </a:extLst>
          </p:cNvPr>
          <p:cNvSpPr/>
          <p:nvPr/>
        </p:nvSpPr>
        <p:spPr>
          <a:xfrm>
            <a:off x="3471605" y="5759833"/>
            <a:ext cx="1368000" cy="702000"/>
          </a:xfrm>
          <a:prstGeom prst="rect">
            <a:avLst/>
          </a:prstGeom>
          <a:solidFill>
            <a:srgbClr val="00B0F0">
              <a:alpha val="29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B32E817-7D06-EBE7-B14D-714DC100ED2E}"/>
              </a:ext>
            </a:extLst>
          </p:cNvPr>
          <p:cNvSpPr/>
          <p:nvPr/>
        </p:nvSpPr>
        <p:spPr>
          <a:xfrm>
            <a:off x="4938771" y="5735085"/>
            <a:ext cx="3868617" cy="702000"/>
          </a:xfrm>
          <a:prstGeom prst="rect">
            <a:avLst/>
          </a:prstGeom>
          <a:solidFill>
            <a:schemeClr val="accent5">
              <a:alpha val="29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5181F2-3445-9870-A6E7-767BFE8E728D}"/>
              </a:ext>
            </a:extLst>
          </p:cNvPr>
          <p:cNvSpPr txBox="1"/>
          <p:nvPr/>
        </p:nvSpPr>
        <p:spPr>
          <a:xfrm>
            <a:off x="4964935" y="6155859"/>
            <a:ext cx="24577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교수님 피드백 반영 및 논문 수정</a:t>
            </a:r>
          </a:p>
        </p:txBody>
      </p:sp>
    </p:spTree>
    <p:extLst>
      <p:ext uri="{BB962C8B-B14F-4D97-AF65-F5344CB8AC3E}">
        <p14:creationId xmlns:p14="http://schemas.microsoft.com/office/powerpoint/2010/main" val="29684291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417</Words>
  <Application>Microsoft Office PowerPoint</Application>
  <PresentationFormat>와이드스크린</PresentationFormat>
  <Paragraphs>61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진하 김</dc:creator>
  <cp:lastModifiedBy>진하 김</cp:lastModifiedBy>
  <cp:revision>28</cp:revision>
  <dcterms:created xsi:type="dcterms:W3CDTF">2026-01-05T18:48:02Z</dcterms:created>
  <dcterms:modified xsi:type="dcterms:W3CDTF">2026-01-06T05:42:03Z</dcterms:modified>
</cp:coreProperties>
</file>